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48" d="100"/>
          <a:sy n="148" d="100"/>
        </p:scale>
        <p:origin x="524"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4FA012-0E0C-4BC5-AB32-083AED2B0270}" type="datetimeFigureOut">
              <a:rPr lang="zh-CN" altLang="en-US" smtClean="0"/>
              <a:t>2025/11/29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458FA-AAC4-4B98-8821-D79D3D48C174}" type="slidenum">
              <a:rPr lang="zh-CN" altLang="en-US" smtClean="0"/>
              <a:t>‹#›</a:t>
            </a:fld>
            <a:endParaRPr lang="zh-CN" altLang="en-US"/>
          </a:p>
        </p:txBody>
      </p:sp>
    </p:spTree>
    <p:extLst>
      <p:ext uri="{BB962C8B-B14F-4D97-AF65-F5344CB8AC3E}">
        <p14:creationId xmlns:p14="http://schemas.microsoft.com/office/powerpoint/2010/main" val="1361258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这套方法的目的很直接：希望模型看到一张图，就能自动把人体关键关节标出来，像我们在康复评估或步态分析中画的那些骨架。 真正的难点是：精确标点非常耗费人工，但临床或实验里其实有大量没有标注的图像。 我们的训练思路是：先用少量已经标好的图像把模型教到‘及格’，再用大量无标注图像，在两位‘老师’带着一个‘学生’的框架下自学，同时始终用解剖学规则约束它，避免出现“不像人的姿势”</a:t>
            </a:r>
          </a:p>
        </p:txBody>
      </p:sp>
      <p:sp>
        <p:nvSpPr>
          <p:cNvPr id="4" name="灯片编号占位符 3"/>
          <p:cNvSpPr>
            <a:spLocks noGrp="1"/>
          </p:cNvSpPr>
          <p:nvPr>
            <p:ph type="sldNum" sz="quarter" idx="5"/>
          </p:nvPr>
        </p:nvSpPr>
        <p:spPr/>
        <p:txBody>
          <a:bodyPr/>
          <a:lstStyle/>
          <a:p>
            <a:fld id="{C1A458FA-AAC4-4B98-8821-D79D3D48C174}" type="slidenum">
              <a:rPr lang="zh-CN" altLang="en-US" smtClean="0"/>
              <a:t>1</a:t>
            </a:fld>
            <a:endParaRPr lang="zh-CN" altLang="en-US"/>
          </a:p>
        </p:txBody>
      </p:sp>
    </p:spTree>
    <p:extLst>
      <p:ext uri="{BB962C8B-B14F-4D97-AF65-F5344CB8AC3E}">
        <p14:creationId xmlns:p14="http://schemas.microsoft.com/office/powerpoint/2010/main" val="3428183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第一步我们只用少量已经标好关键点的图像，就像带有详细标注的教学病例。 模型的任务很简单：看到图像，就把它认为的关节点画出来，和我们事先标好的答案对比，偏离得越多惩罚越大，经过很多轮之后，它在这小批数据上已经能画得比较像。 这一步的目标不是做到完美，而是把模型送到一个‘基本合格’的起点，后面要靠大量无标注图像继续把它养大。</a:t>
            </a:r>
          </a:p>
        </p:txBody>
      </p:sp>
      <p:sp>
        <p:nvSpPr>
          <p:cNvPr id="4" name="灯片编号占位符 3"/>
          <p:cNvSpPr>
            <a:spLocks noGrp="1"/>
          </p:cNvSpPr>
          <p:nvPr>
            <p:ph type="sldNum" sz="quarter" idx="5"/>
          </p:nvPr>
        </p:nvSpPr>
        <p:spPr/>
        <p:txBody>
          <a:bodyPr/>
          <a:lstStyle/>
          <a:p>
            <a:fld id="{C1A458FA-AAC4-4B98-8821-D79D3D48C174}" type="slidenum">
              <a:rPr lang="zh-CN" altLang="en-US" smtClean="0"/>
              <a:t>2</a:t>
            </a:fld>
            <a:endParaRPr lang="zh-CN" altLang="en-US"/>
          </a:p>
        </p:txBody>
      </p:sp>
    </p:spTree>
    <p:extLst>
      <p:ext uri="{BB962C8B-B14F-4D97-AF65-F5344CB8AC3E}">
        <p14:creationId xmlns:p14="http://schemas.microsoft.com/office/powerpoint/2010/main" val="3291980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到了第二步，我们把在第一步得到的模型复制成三份：两份当‘老师’，一份当‘学生’。 两位老师分工不同： 一位只关注姿势几何，对轻微旋转、缩放很稳定； 另一位只关注图像外观，对亮度变化、噪点、模糊更稳定。 他们先在大量没有人工标注的图像上各自给出一套骨架预测，并且给出每个关节的可信度。 对每个人：我们先整体过滤掉看起来很不靠谱的；对留下来的，再逐个关节判断哪位老师更靠谱，然后把这两个老师的结果按可信度加权融合，形成一份‘综合参考骨架’。 接下来，学生看到的是同一张图在不同拍摄条件下的“重度扰动版本”，比如裁剪、变形、遮挡等等</a:t>
            </a:r>
            <a:r>
              <a:rPr lang="en-US" altLang="zh-CN" dirty="0"/>
              <a:t>——</a:t>
            </a:r>
            <a:r>
              <a:rPr lang="zh-CN" altLang="en-US" dirty="0"/>
              <a:t>无论如何扰动，他都要尽量画出和这份综合参考类似的骨架。 这样一来，即便没有人工标注，学生也能在两位老师的带领下，在海量图像上不断自学，并且对各种视角、光照和遮挡变得更有适应性。</a:t>
            </a:r>
            <a:br>
              <a:rPr lang="en-US" altLang="zh-CN" dirty="0"/>
            </a:br>
            <a:r>
              <a:rPr lang="zh-CN" altLang="en-US" dirty="0"/>
              <a:t>可以理解为：两位专长不同的主治医师，先各自给出会诊意见，再整合成一个综合结论；住院医师在各种‘刁钻病例’上练习时，都要尽量贴近这个综合结论。</a:t>
            </a:r>
          </a:p>
        </p:txBody>
      </p:sp>
      <p:sp>
        <p:nvSpPr>
          <p:cNvPr id="4" name="灯片编号占位符 3"/>
          <p:cNvSpPr>
            <a:spLocks noGrp="1"/>
          </p:cNvSpPr>
          <p:nvPr>
            <p:ph type="sldNum" sz="quarter" idx="5"/>
          </p:nvPr>
        </p:nvSpPr>
        <p:spPr/>
        <p:txBody>
          <a:bodyPr/>
          <a:lstStyle/>
          <a:p>
            <a:fld id="{C1A458FA-AAC4-4B98-8821-D79D3D48C174}" type="slidenum">
              <a:rPr lang="zh-CN" altLang="en-US" smtClean="0"/>
              <a:t>3</a:t>
            </a:fld>
            <a:endParaRPr lang="zh-CN" altLang="en-US"/>
          </a:p>
        </p:txBody>
      </p:sp>
    </p:spTree>
    <p:extLst>
      <p:ext uri="{BB962C8B-B14F-4D97-AF65-F5344CB8AC3E}">
        <p14:creationId xmlns:p14="http://schemas.microsoft.com/office/powerpoint/2010/main" val="2843648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在第二步的自学过程中，即使有两位老师把关，模型有时还是会学出一些‘看着就不对劲’的骨架，比如肢体长度比例怪异，关节角度超出正常范围，或者手脚位置突然跳到身体外面。</a:t>
            </a:r>
          </a:p>
          <a:p>
            <a:r>
              <a:rPr lang="zh-CN" altLang="en-US" dirty="0"/>
              <a:t> 第三步，我们把‘解剖学规则’正式写进训练过程，作为一组软约束：</a:t>
            </a:r>
          </a:p>
          <a:p>
            <a:endParaRPr lang="zh-CN" altLang="en-US" dirty="0"/>
          </a:p>
          <a:p>
            <a:r>
              <a:rPr lang="en-US" altLang="zh-CN" dirty="0"/>
              <a:t>- </a:t>
            </a:r>
            <a:r>
              <a:rPr lang="zh-CN" altLang="en-US" dirty="0"/>
              <a:t>骨骼要连续，不能出现‘折断’或悬空；</a:t>
            </a:r>
          </a:p>
          <a:p>
            <a:r>
              <a:rPr lang="en-US" altLang="zh-CN" dirty="0"/>
              <a:t>- </a:t>
            </a:r>
            <a:r>
              <a:rPr lang="zh-CN" altLang="en-US" dirty="0"/>
              <a:t>每段骨骼的长度比例要接近我们在少量标注数据中统计出来的常见值；</a:t>
            </a:r>
          </a:p>
          <a:p>
            <a:r>
              <a:rPr lang="en-US" altLang="zh-CN" dirty="0"/>
              <a:t>- </a:t>
            </a:r>
            <a:r>
              <a:rPr lang="zh-CN" altLang="en-US" dirty="0"/>
              <a:t>关键关节（肩、肘、膝等）的角度要落在合理区间，避免极端扭曲。</a:t>
            </a:r>
          </a:p>
          <a:p>
            <a:r>
              <a:rPr lang="zh-CN" altLang="en-US" dirty="0"/>
              <a:t>   如果某个预测骨架严重违反这些规则，训练时就会给它更高的“惩罚”，模型会被推回到更合理的姿势上。</a:t>
            </a:r>
          </a:p>
          <a:p>
            <a:r>
              <a:rPr lang="zh-CN" altLang="en-US" dirty="0"/>
              <a:t>   所以整体上看，这个训练过程就是：</a:t>
            </a:r>
          </a:p>
          <a:p>
            <a:r>
              <a:rPr lang="zh-CN" altLang="en-US" dirty="0"/>
              <a:t>   先用少量标注图像教会基本功 → 再用两位老师带着学生在大量无标注图像上自学 → 最后用解剖学规则做安全护栏，防止出现临床上不可能的姿势。</a:t>
            </a:r>
          </a:p>
          <a:p>
            <a:r>
              <a:rPr lang="zh-CN" altLang="en-US" dirty="0"/>
              <a:t>   这样得到的模型，在我们关心的人群和拍摄条件下，会更稳、更像‘真人’，也更适合作为后续医学分析的基础。</a:t>
            </a:r>
          </a:p>
        </p:txBody>
      </p:sp>
      <p:sp>
        <p:nvSpPr>
          <p:cNvPr id="4" name="灯片编号占位符 3"/>
          <p:cNvSpPr>
            <a:spLocks noGrp="1"/>
          </p:cNvSpPr>
          <p:nvPr>
            <p:ph type="sldNum" sz="quarter" idx="5"/>
          </p:nvPr>
        </p:nvSpPr>
        <p:spPr/>
        <p:txBody>
          <a:bodyPr/>
          <a:lstStyle/>
          <a:p>
            <a:fld id="{C1A458FA-AAC4-4B98-8821-D79D3D48C174}" type="slidenum">
              <a:rPr lang="zh-CN" altLang="en-US" smtClean="0"/>
              <a:t>4</a:t>
            </a:fld>
            <a:endParaRPr lang="zh-CN" altLang="en-US"/>
          </a:p>
        </p:txBody>
      </p:sp>
    </p:spTree>
    <p:extLst>
      <p:ext uri="{BB962C8B-B14F-4D97-AF65-F5344CB8AC3E}">
        <p14:creationId xmlns:p14="http://schemas.microsoft.com/office/powerpoint/2010/main" val="283847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227E4F-56C1-AB7B-DDAB-6BEA353C7BA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878778B-7F6F-6A44-0352-5503386399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EAB4266-9851-FB87-B729-8FAC4B25378C}"/>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A293C750-24F6-A08C-775A-1C03080E40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B85F04-B569-1B57-8EE3-24B6D0D93076}"/>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3748170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F5ABA0-13EF-E991-C532-1B234BED42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1D2D6B-2E35-EBA8-0FC5-F272B0113B8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5E9D9A-CB35-144E-66B4-4119659981D2}"/>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AB28E18D-ECFC-A321-B005-58D6140FFB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CC647D-A25E-482C-BDA4-ED0EAB15A03F}"/>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419706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01EDD9-C82B-D7C3-BD36-2BBC8994AFC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23E04F7-EB39-CAA0-08B7-BBC74E0BFF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E2BD08F-6FD0-C454-3926-57169D74F24B}"/>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E6B9910F-202B-917D-7C6B-B5706D240A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37248C-DC68-8E6B-A90D-79E97CBA0AB4}"/>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246252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37EA7-9E19-2118-6B6E-429100F231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8133374-F13F-C1F3-7DB1-8A082FD66E5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B8D4423-A61B-D93B-A601-D5527F01C72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2305AC9-CDF8-B70B-010E-535921FA4820}"/>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6" name="页脚占位符 5">
            <a:extLst>
              <a:ext uri="{FF2B5EF4-FFF2-40B4-BE49-F238E27FC236}">
                <a16:creationId xmlns:a16="http://schemas.microsoft.com/office/drawing/2014/main" id="{F621C111-3413-FCFF-790B-389FC6DE5CE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C400BE-D932-1E6F-05A4-CA6C8AA94BA1}"/>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908599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25BB16-D0A9-A0E2-27F0-C93164B4119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0C8468A-01EF-B8DC-3EB9-2D786DD704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99FEACD-51B5-3780-2F1E-6CDED39C12D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C6E2B01-8EE8-1DF6-CE16-25B8D6069B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77F0CEB-A771-62DC-328D-6884F747475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BC4623E-8BED-2176-BB93-9D09BFF04356}"/>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8" name="页脚占位符 7">
            <a:extLst>
              <a:ext uri="{FF2B5EF4-FFF2-40B4-BE49-F238E27FC236}">
                <a16:creationId xmlns:a16="http://schemas.microsoft.com/office/drawing/2014/main" id="{34AE6C9A-8387-AAFB-C275-E7771D650BE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F0184A2-13A6-813E-CB76-A1C283697961}"/>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3578927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8CFFA9-23C7-E226-8DC4-347FD2149D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058B77B-1031-664F-AAB2-6CA176B8B9F1}"/>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4" name="页脚占位符 3">
            <a:extLst>
              <a:ext uri="{FF2B5EF4-FFF2-40B4-BE49-F238E27FC236}">
                <a16:creationId xmlns:a16="http://schemas.microsoft.com/office/drawing/2014/main" id="{9BBE0BE4-046D-5347-FB98-5F7C0E9968F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26DCC35-1F31-5711-4795-83A0C13B9C16}"/>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3750847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0AA28F1-E3C3-59E4-2305-9E920AD26C33}"/>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3" name="页脚占位符 2">
            <a:extLst>
              <a:ext uri="{FF2B5EF4-FFF2-40B4-BE49-F238E27FC236}">
                <a16:creationId xmlns:a16="http://schemas.microsoft.com/office/drawing/2014/main" id="{2B5FC75E-CE53-2B5C-4ED7-6A9019393B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791DAE-DC15-F8F5-F0AE-EBE227DAABE3}"/>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1629673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ED74FE-D626-184F-BC45-23C4681EF19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9CCC872-3298-2E7E-8D86-7C102A8546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78D7AAE-997C-963B-8B04-1C07CE058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3DD0C58-D6A0-C872-5530-7519E52A15E7}"/>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6" name="页脚占位符 5">
            <a:extLst>
              <a:ext uri="{FF2B5EF4-FFF2-40B4-BE49-F238E27FC236}">
                <a16:creationId xmlns:a16="http://schemas.microsoft.com/office/drawing/2014/main" id="{FD533AEB-5AB2-0F98-9B67-BFE201B493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A2F0A4F-172B-B657-931D-2B193F0295E6}"/>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4024726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281617-4C38-08E1-2CBE-09A0AB06B02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A0277FC-8B13-119E-FA97-ED6B9D247E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CD75A80-8FD5-4D99-4B16-37F816D40E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BA09B77-144A-8AF3-742B-03220B361970}"/>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6" name="页脚占位符 5">
            <a:extLst>
              <a:ext uri="{FF2B5EF4-FFF2-40B4-BE49-F238E27FC236}">
                <a16:creationId xmlns:a16="http://schemas.microsoft.com/office/drawing/2014/main" id="{A7BA97F7-F6F5-86EB-F603-A3B82F9BE7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D5B2BB-A483-4331-A460-2EC2649D9476}"/>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476440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B97AB5-2382-E9E4-D1DD-9A41CA7AC5F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188478-36DC-1804-FB67-1B1D20F182B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C59906-9067-C3C1-F9E0-B78DFD50F662}"/>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16C44EC6-BF3D-E791-530E-DB997094F0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684C22-F964-AEDA-4ABC-952616768266}"/>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3767858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33E7E77-3F9F-E0A5-38F8-F84470EDB9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6F98687-A0D5-25FC-8F66-B169F4BED75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C04E262-56F2-C911-6416-7D5E8661F7BD}"/>
              </a:ext>
            </a:extLst>
          </p:cNvPr>
          <p:cNvSpPr>
            <a:spLocks noGrp="1"/>
          </p:cNvSpPr>
          <p:nvPr>
            <p:ph type="dt" sz="half" idx="10"/>
          </p:nvPr>
        </p:nvSpPr>
        <p:spPr/>
        <p:txBody>
          <a:body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470644B8-A83B-C868-665F-0992654629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CB3D34-5770-6304-F548-908C2C2DB4C1}"/>
              </a:ext>
            </a:extLst>
          </p:cNvPr>
          <p:cNvSpPr>
            <a:spLocks noGrp="1"/>
          </p:cNvSpPr>
          <p:nvPr>
            <p:ph type="sldNum" sz="quarter" idx="12"/>
          </p:nvPr>
        </p:nvSpPr>
        <p:spPr/>
        <p:txBody>
          <a:body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1674640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A56DD3B-1E61-5783-954C-7832AAB3D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2798554-B4AA-30CD-9C09-CC0E04AAF7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1C4283-297C-AEA1-5632-309D6EF13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EA7F74-D74F-4BC7-ACEE-A25822C715CA}" type="datetimeFigureOut">
              <a:rPr lang="zh-CN" altLang="en-US" smtClean="0"/>
              <a:t>2025/11/29</a:t>
            </a:fld>
            <a:endParaRPr lang="zh-CN" altLang="en-US"/>
          </a:p>
        </p:txBody>
      </p:sp>
      <p:sp>
        <p:nvSpPr>
          <p:cNvPr id="5" name="页脚占位符 4">
            <a:extLst>
              <a:ext uri="{FF2B5EF4-FFF2-40B4-BE49-F238E27FC236}">
                <a16:creationId xmlns:a16="http://schemas.microsoft.com/office/drawing/2014/main" id="{536659A1-865E-4FE3-2593-769F7B17CE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23C564E-B6DC-ACBD-8D57-4CF751FC72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ACDC1-BB4B-4E29-A628-E8817C24ED06}" type="slidenum">
              <a:rPr lang="zh-CN" altLang="en-US" smtClean="0"/>
              <a:t>‹#›</a:t>
            </a:fld>
            <a:endParaRPr lang="zh-CN" altLang="en-US"/>
          </a:p>
        </p:txBody>
      </p:sp>
    </p:spTree>
    <p:extLst>
      <p:ext uri="{BB962C8B-B14F-4D97-AF65-F5344CB8AC3E}">
        <p14:creationId xmlns:p14="http://schemas.microsoft.com/office/powerpoint/2010/main" val="3624222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EC59FBE-9517-B041-23A5-DA11FDA9DFDB}"/>
              </a:ext>
            </a:extLst>
          </p:cNvPr>
          <p:cNvPicPr>
            <a:picLocks noChangeAspect="1"/>
          </p:cNvPicPr>
          <p:nvPr/>
        </p:nvPicPr>
        <p:blipFill>
          <a:blip r:embed="rId3">
            <a:extLst>
              <a:ext uri="{28A0092B-C50C-407E-A947-70E740481C1C}">
                <a14:useLocalDpi xmlns:a14="http://schemas.microsoft.com/office/drawing/2010/main" val="0"/>
              </a:ext>
            </a:extLst>
          </a:blip>
          <a:srcRect l="39736" t="2507" r="30952" b="25688"/>
          <a:stretch>
            <a:fillRect/>
          </a:stretch>
        </p:blipFill>
        <p:spPr>
          <a:xfrm>
            <a:off x="969971" y="985705"/>
            <a:ext cx="1692492" cy="2332140"/>
          </a:xfrm>
          <a:prstGeom prst="rect">
            <a:avLst/>
          </a:prstGeom>
        </p:spPr>
      </p:pic>
      <p:pic>
        <p:nvPicPr>
          <p:cNvPr id="7" name="图片 6">
            <a:extLst>
              <a:ext uri="{FF2B5EF4-FFF2-40B4-BE49-F238E27FC236}">
                <a16:creationId xmlns:a16="http://schemas.microsoft.com/office/drawing/2014/main" id="{4A77575A-31BE-1BA1-D05F-B7C0FE5C8860}"/>
              </a:ext>
            </a:extLst>
          </p:cNvPr>
          <p:cNvPicPr>
            <a:picLocks noChangeAspect="1"/>
          </p:cNvPicPr>
          <p:nvPr/>
        </p:nvPicPr>
        <p:blipFill>
          <a:blip r:embed="rId4">
            <a:extLst>
              <a:ext uri="{28A0092B-C50C-407E-A947-70E740481C1C}">
                <a14:useLocalDpi xmlns:a14="http://schemas.microsoft.com/office/drawing/2010/main" val="0"/>
              </a:ext>
            </a:extLst>
          </a:blip>
          <a:srcRect l="41559" t="2026" r="31021" b="30726"/>
          <a:stretch>
            <a:fillRect/>
          </a:stretch>
        </p:blipFill>
        <p:spPr>
          <a:xfrm>
            <a:off x="4208121" y="985705"/>
            <a:ext cx="1692492" cy="2332140"/>
          </a:xfrm>
          <a:prstGeom prst="rect">
            <a:avLst/>
          </a:prstGeom>
        </p:spPr>
      </p:pic>
      <p:sp>
        <p:nvSpPr>
          <p:cNvPr id="8" name="文本框 7">
            <a:extLst>
              <a:ext uri="{FF2B5EF4-FFF2-40B4-BE49-F238E27FC236}">
                <a16:creationId xmlns:a16="http://schemas.microsoft.com/office/drawing/2014/main" id="{64111F45-71DC-1F1B-2DD2-ACCD44A89E6F}"/>
              </a:ext>
            </a:extLst>
          </p:cNvPr>
          <p:cNvSpPr txBox="1"/>
          <p:nvPr/>
        </p:nvSpPr>
        <p:spPr>
          <a:xfrm>
            <a:off x="969971" y="3632432"/>
            <a:ext cx="9752202" cy="2308324"/>
          </a:xfrm>
          <a:prstGeom prst="rect">
            <a:avLst/>
          </a:prstGeom>
          <a:noFill/>
        </p:spPr>
        <p:txBody>
          <a:bodyPr wrap="square" rtlCol="0">
            <a:spAutoFit/>
          </a:bodyPr>
          <a:lstStyle/>
          <a:p>
            <a:r>
              <a:rPr lang="en-US" altLang="zh-CN" dirty="0"/>
              <a:t>- </a:t>
            </a:r>
            <a:r>
              <a:rPr lang="zh-CN" altLang="en-US" dirty="0"/>
              <a:t>目标：给出一张患者</a:t>
            </a:r>
            <a:r>
              <a:rPr lang="en-US" altLang="zh-CN" dirty="0"/>
              <a:t>/</a:t>
            </a:r>
            <a:r>
              <a:rPr lang="zh-CN" altLang="en-US" dirty="0"/>
              <a:t>受试者的图像，让模型自动标出关键关节（肩、肘、膝等）的位置</a:t>
            </a:r>
          </a:p>
          <a:p>
            <a:r>
              <a:rPr lang="en-US" altLang="zh-CN" dirty="0"/>
              <a:t>- </a:t>
            </a:r>
            <a:r>
              <a:rPr lang="zh-CN" altLang="en-US" dirty="0"/>
              <a:t>难点：</a:t>
            </a:r>
          </a:p>
          <a:p>
            <a:r>
              <a:rPr lang="zh-CN" altLang="en-US" dirty="0"/>
              <a:t>  </a:t>
            </a:r>
            <a:r>
              <a:rPr lang="en-US" altLang="zh-CN" dirty="0"/>
              <a:t>- </a:t>
            </a:r>
            <a:r>
              <a:rPr lang="zh-CN" altLang="en-US" dirty="0"/>
              <a:t>精确标点需要大量人工，成本高、很耗时间</a:t>
            </a:r>
          </a:p>
          <a:p>
            <a:r>
              <a:rPr lang="zh-CN" altLang="en-US" dirty="0"/>
              <a:t>  </a:t>
            </a:r>
            <a:r>
              <a:rPr lang="en-US" altLang="zh-CN" dirty="0"/>
              <a:t>- </a:t>
            </a:r>
            <a:r>
              <a:rPr lang="zh-CN" altLang="en-US" dirty="0"/>
              <a:t>但其实有很多“没标点”的图像可以利用</a:t>
            </a:r>
          </a:p>
          <a:p>
            <a:r>
              <a:rPr lang="en-US" altLang="zh-CN" dirty="0"/>
              <a:t>- </a:t>
            </a:r>
            <a:r>
              <a:rPr lang="zh-CN" altLang="en-US" dirty="0"/>
              <a:t>思路：</a:t>
            </a:r>
          </a:p>
          <a:p>
            <a:r>
              <a:rPr lang="zh-CN" altLang="en-US" dirty="0"/>
              <a:t>  </a:t>
            </a:r>
            <a:r>
              <a:rPr lang="en-US" altLang="zh-CN" dirty="0"/>
              <a:t>- </a:t>
            </a:r>
            <a:r>
              <a:rPr lang="zh-CN" altLang="en-US" dirty="0"/>
              <a:t>用少量“带答案”的图像打基础</a:t>
            </a:r>
          </a:p>
          <a:p>
            <a:r>
              <a:rPr lang="zh-CN" altLang="en-US" dirty="0"/>
              <a:t>  </a:t>
            </a:r>
            <a:r>
              <a:rPr lang="en-US" altLang="zh-CN" dirty="0"/>
              <a:t>- </a:t>
            </a:r>
            <a:r>
              <a:rPr lang="zh-CN" altLang="en-US" dirty="0"/>
              <a:t>再用大量“没答案”的图像，让模型在</a:t>
            </a:r>
            <a:r>
              <a:rPr lang="zh-CN" altLang="en-US" b="1" dirty="0"/>
              <a:t>两位“老师” </a:t>
            </a:r>
            <a:r>
              <a:rPr lang="en-US" altLang="zh-CN" b="1" dirty="0"/>
              <a:t>+ </a:t>
            </a:r>
            <a:r>
              <a:rPr lang="zh-CN" altLang="en-US" b="1" dirty="0"/>
              <a:t>一个“学生”</a:t>
            </a:r>
            <a:r>
              <a:rPr lang="zh-CN" altLang="en-US" dirty="0"/>
              <a:t>的框架下自学</a:t>
            </a:r>
          </a:p>
          <a:p>
            <a:r>
              <a:rPr lang="zh-CN" altLang="en-US" dirty="0"/>
              <a:t>  </a:t>
            </a:r>
            <a:r>
              <a:rPr lang="en-US" altLang="zh-CN" dirty="0"/>
              <a:t>- </a:t>
            </a:r>
            <a:r>
              <a:rPr lang="zh-CN" altLang="en-US" dirty="0"/>
              <a:t>用</a:t>
            </a:r>
            <a:r>
              <a:rPr lang="zh-CN" altLang="en-US" b="1" dirty="0"/>
              <a:t>解剖学规则</a:t>
            </a:r>
            <a:r>
              <a:rPr lang="zh-CN" altLang="en-US" dirty="0"/>
              <a:t>给它“把关”</a:t>
            </a:r>
          </a:p>
        </p:txBody>
      </p:sp>
      <p:sp>
        <p:nvSpPr>
          <p:cNvPr id="10" name="箭头: 右 9">
            <a:extLst>
              <a:ext uri="{FF2B5EF4-FFF2-40B4-BE49-F238E27FC236}">
                <a16:creationId xmlns:a16="http://schemas.microsoft.com/office/drawing/2014/main" id="{8A8E16FA-75DE-DEF3-BDE7-20F28971E710}"/>
              </a:ext>
            </a:extLst>
          </p:cNvPr>
          <p:cNvSpPr/>
          <p:nvPr/>
        </p:nvSpPr>
        <p:spPr>
          <a:xfrm>
            <a:off x="2994870" y="1887523"/>
            <a:ext cx="906011" cy="5914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E194979-D99C-1F27-BDB0-15401848F803}"/>
              </a:ext>
            </a:extLst>
          </p:cNvPr>
          <p:cNvSpPr txBox="1"/>
          <p:nvPr/>
        </p:nvSpPr>
        <p:spPr>
          <a:xfrm>
            <a:off x="969971" y="260059"/>
            <a:ext cx="4436734" cy="369332"/>
          </a:xfrm>
          <a:prstGeom prst="rect">
            <a:avLst/>
          </a:prstGeom>
          <a:noFill/>
        </p:spPr>
        <p:txBody>
          <a:bodyPr wrap="square" rtlCol="0">
            <a:spAutoFit/>
          </a:bodyPr>
          <a:lstStyle/>
          <a:p>
            <a:r>
              <a:rPr lang="zh-CN" altLang="en-US" dirty="0"/>
              <a:t>从图像里“看懂”肢体姿势</a:t>
            </a:r>
          </a:p>
        </p:txBody>
      </p:sp>
    </p:spTree>
    <p:extLst>
      <p:ext uri="{BB962C8B-B14F-4D97-AF65-F5344CB8AC3E}">
        <p14:creationId xmlns:p14="http://schemas.microsoft.com/office/powerpoint/2010/main" val="1305595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CF66-D9E1-630C-3F30-0F093E17D50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0EB1BA15-B5C1-955F-DDB1-031E38839D5A}"/>
              </a:ext>
            </a:extLst>
          </p:cNvPr>
          <p:cNvPicPr>
            <a:picLocks noChangeAspect="1"/>
          </p:cNvPicPr>
          <p:nvPr/>
        </p:nvPicPr>
        <p:blipFill>
          <a:blip r:embed="rId3">
            <a:extLst>
              <a:ext uri="{28A0092B-C50C-407E-A947-70E740481C1C}">
                <a14:useLocalDpi xmlns:a14="http://schemas.microsoft.com/office/drawing/2010/main" val="0"/>
              </a:ext>
            </a:extLst>
          </a:blip>
          <a:srcRect l="39736" t="2507" r="30952" b="25688"/>
          <a:stretch>
            <a:fillRect/>
          </a:stretch>
        </p:blipFill>
        <p:spPr>
          <a:xfrm>
            <a:off x="969971" y="985705"/>
            <a:ext cx="1692492" cy="2332140"/>
          </a:xfrm>
          <a:prstGeom prst="rect">
            <a:avLst/>
          </a:prstGeom>
        </p:spPr>
      </p:pic>
      <p:pic>
        <p:nvPicPr>
          <p:cNvPr id="7" name="图片 6">
            <a:extLst>
              <a:ext uri="{FF2B5EF4-FFF2-40B4-BE49-F238E27FC236}">
                <a16:creationId xmlns:a16="http://schemas.microsoft.com/office/drawing/2014/main" id="{47B5DCA9-3334-3138-0DB4-67856E7C7DCE}"/>
              </a:ext>
            </a:extLst>
          </p:cNvPr>
          <p:cNvPicPr>
            <a:picLocks noChangeAspect="1"/>
          </p:cNvPicPr>
          <p:nvPr/>
        </p:nvPicPr>
        <p:blipFill>
          <a:blip r:embed="rId4">
            <a:extLst>
              <a:ext uri="{28A0092B-C50C-407E-A947-70E740481C1C}">
                <a14:useLocalDpi xmlns:a14="http://schemas.microsoft.com/office/drawing/2010/main" val="0"/>
              </a:ext>
            </a:extLst>
          </a:blip>
          <a:srcRect l="41559" t="2026" r="31021" b="30726"/>
          <a:stretch>
            <a:fillRect/>
          </a:stretch>
        </p:blipFill>
        <p:spPr>
          <a:xfrm>
            <a:off x="4208121" y="985705"/>
            <a:ext cx="1692492" cy="2332140"/>
          </a:xfrm>
          <a:prstGeom prst="rect">
            <a:avLst/>
          </a:prstGeom>
        </p:spPr>
      </p:pic>
      <p:sp>
        <p:nvSpPr>
          <p:cNvPr id="8" name="文本框 7">
            <a:extLst>
              <a:ext uri="{FF2B5EF4-FFF2-40B4-BE49-F238E27FC236}">
                <a16:creationId xmlns:a16="http://schemas.microsoft.com/office/drawing/2014/main" id="{17E96BF8-6BA6-E0D4-3D51-49EA795DC8FC}"/>
              </a:ext>
            </a:extLst>
          </p:cNvPr>
          <p:cNvSpPr txBox="1"/>
          <p:nvPr/>
        </p:nvSpPr>
        <p:spPr>
          <a:xfrm>
            <a:off x="969971" y="3632432"/>
            <a:ext cx="9752202" cy="2031325"/>
          </a:xfrm>
          <a:prstGeom prst="rect">
            <a:avLst/>
          </a:prstGeom>
          <a:noFill/>
        </p:spPr>
        <p:txBody>
          <a:bodyPr wrap="square" rtlCol="0">
            <a:spAutoFit/>
          </a:bodyPr>
          <a:lstStyle/>
          <a:p>
            <a:r>
              <a:rPr lang="en-US" altLang="zh-CN" dirty="0"/>
              <a:t>- </a:t>
            </a:r>
            <a:r>
              <a:rPr lang="zh-CN" altLang="en-US" dirty="0"/>
              <a:t>输入：一小批已经标好关节位置的图像（带“</a:t>
            </a:r>
            <a:r>
              <a:rPr lang="zh-CN" altLang="en-US" b="1" dirty="0"/>
              <a:t>金标准</a:t>
            </a:r>
            <a:r>
              <a:rPr lang="zh-CN" altLang="en-US" dirty="0"/>
              <a:t>”）</a:t>
            </a:r>
          </a:p>
          <a:p>
            <a:r>
              <a:rPr lang="en-US" altLang="zh-CN" dirty="0"/>
              <a:t>- </a:t>
            </a:r>
            <a:r>
              <a:rPr lang="zh-CN" altLang="en-US" dirty="0"/>
              <a:t>做的事：</a:t>
            </a:r>
          </a:p>
          <a:p>
            <a:r>
              <a:rPr lang="zh-CN" altLang="en-US" dirty="0"/>
              <a:t>  </a:t>
            </a:r>
            <a:r>
              <a:rPr lang="en-US" altLang="zh-CN" dirty="0"/>
              <a:t>- </a:t>
            </a:r>
            <a:r>
              <a:rPr lang="zh-CN" altLang="en-US" dirty="0"/>
              <a:t>模型看到图像，尝试标出每个关节</a:t>
            </a:r>
          </a:p>
          <a:p>
            <a:r>
              <a:rPr lang="zh-CN" altLang="en-US" dirty="0"/>
              <a:t>  </a:t>
            </a:r>
            <a:r>
              <a:rPr lang="en-US" altLang="zh-CN" dirty="0"/>
              <a:t>- </a:t>
            </a:r>
            <a:r>
              <a:rPr lang="zh-CN" altLang="en-US" dirty="0"/>
              <a:t>和“金标准”对比，哪里偏了就往回调</a:t>
            </a:r>
          </a:p>
          <a:p>
            <a:r>
              <a:rPr lang="en-US" altLang="zh-CN" dirty="0"/>
              <a:t>- </a:t>
            </a:r>
            <a:r>
              <a:rPr lang="zh-CN" altLang="en-US" dirty="0"/>
              <a:t>目的：</a:t>
            </a:r>
          </a:p>
          <a:p>
            <a:r>
              <a:rPr lang="zh-CN" altLang="en-US" dirty="0"/>
              <a:t>  </a:t>
            </a:r>
            <a:r>
              <a:rPr lang="en-US" altLang="zh-CN" dirty="0"/>
              <a:t>- </a:t>
            </a:r>
            <a:r>
              <a:rPr lang="zh-CN" altLang="en-US" dirty="0"/>
              <a:t>得到一个“基础合格”的姿态模型</a:t>
            </a:r>
          </a:p>
          <a:p>
            <a:r>
              <a:rPr lang="zh-CN" altLang="en-US" dirty="0"/>
              <a:t>  </a:t>
            </a:r>
            <a:r>
              <a:rPr lang="en-US" altLang="zh-CN" dirty="0"/>
              <a:t>- </a:t>
            </a:r>
            <a:r>
              <a:rPr lang="zh-CN" altLang="en-US" dirty="0"/>
              <a:t>后面所有自学都是在这个基础上继续微调</a:t>
            </a:r>
          </a:p>
        </p:txBody>
      </p:sp>
      <p:sp>
        <p:nvSpPr>
          <p:cNvPr id="10" name="箭头: 右 9">
            <a:extLst>
              <a:ext uri="{FF2B5EF4-FFF2-40B4-BE49-F238E27FC236}">
                <a16:creationId xmlns:a16="http://schemas.microsoft.com/office/drawing/2014/main" id="{D4C19AAA-7B52-BBB3-05B2-2F0632365D11}"/>
              </a:ext>
            </a:extLst>
          </p:cNvPr>
          <p:cNvSpPr/>
          <p:nvPr/>
        </p:nvSpPr>
        <p:spPr>
          <a:xfrm>
            <a:off x="2994870" y="1887523"/>
            <a:ext cx="906011" cy="5914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243DDB0F-8BFE-5049-D907-91D87F9EAC23}"/>
              </a:ext>
            </a:extLst>
          </p:cNvPr>
          <p:cNvSpPr txBox="1"/>
          <p:nvPr/>
        </p:nvSpPr>
        <p:spPr>
          <a:xfrm>
            <a:off x="969971" y="260059"/>
            <a:ext cx="5271438" cy="369332"/>
          </a:xfrm>
          <a:prstGeom prst="rect">
            <a:avLst/>
          </a:prstGeom>
          <a:noFill/>
        </p:spPr>
        <p:txBody>
          <a:bodyPr wrap="square" rtlCol="0">
            <a:spAutoFit/>
          </a:bodyPr>
          <a:lstStyle/>
          <a:p>
            <a:r>
              <a:rPr lang="zh-CN" altLang="en-US" dirty="0"/>
              <a:t>用少量人工标注的图像，教会模型基本技能</a:t>
            </a:r>
          </a:p>
        </p:txBody>
      </p:sp>
    </p:spTree>
    <p:extLst>
      <p:ext uri="{BB962C8B-B14F-4D97-AF65-F5344CB8AC3E}">
        <p14:creationId xmlns:p14="http://schemas.microsoft.com/office/powerpoint/2010/main" val="2243991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EC55C-4FEA-D4D3-9AF6-12475A7EC2AE}"/>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1FC47F50-F94E-B1E0-EA93-3C8960D8C585}"/>
              </a:ext>
            </a:extLst>
          </p:cNvPr>
          <p:cNvSpPr txBox="1"/>
          <p:nvPr/>
        </p:nvSpPr>
        <p:spPr>
          <a:xfrm>
            <a:off x="969971" y="3632432"/>
            <a:ext cx="9752202" cy="2862322"/>
          </a:xfrm>
          <a:prstGeom prst="rect">
            <a:avLst/>
          </a:prstGeom>
          <a:noFill/>
        </p:spPr>
        <p:txBody>
          <a:bodyPr wrap="square" rtlCol="0">
            <a:spAutoFit/>
          </a:bodyPr>
          <a:lstStyle/>
          <a:p>
            <a:r>
              <a:rPr lang="en-US" altLang="zh-CN" dirty="0"/>
              <a:t>- </a:t>
            </a:r>
            <a:r>
              <a:rPr lang="zh-CN" altLang="en-US" dirty="0"/>
              <a:t>有两位“老师”模型：</a:t>
            </a:r>
          </a:p>
          <a:p>
            <a:r>
              <a:rPr lang="zh-CN" altLang="en-US" dirty="0"/>
              <a:t>  </a:t>
            </a:r>
            <a:r>
              <a:rPr lang="en-US" altLang="zh-CN" dirty="0"/>
              <a:t>- </a:t>
            </a:r>
            <a:r>
              <a:rPr lang="zh-CN" altLang="en-US" b="1" dirty="0"/>
              <a:t>几何老师</a:t>
            </a:r>
            <a:r>
              <a:rPr lang="zh-CN" altLang="en-US" dirty="0"/>
              <a:t>：专门看“姿势形状”，对旋转、缩放等不敏感</a:t>
            </a:r>
          </a:p>
          <a:p>
            <a:r>
              <a:rPr lang="zh-CN" altLang="en-US" dirty="0"/>
              <a:t>  </a:t>
            </a:r>
            <a:r>
              <a:rPr lang="en-US" altLang="zh-CN" dirty="0"/>
              <a:t>- </a:t>
            </a:r>
            <a:r>
              <a:rPr lang="zh-CN" altLang="en-US" b="1" dirty="0"/>
              <a:t>外观老师</a:t>
            </a:r>
            <a:r>
              <a:rPr lang="zh-CN" altLang="en-US" dirty="0"/>
              <a:t>：专门适应“图像外观”，对光照、噪声、模糊等不敏感</a:t>
            </a:r>
          </a:p>
          <a:p>
            <a:r>
              <a:rPr lang="en-US" altLang="zh-CN" dirty="0"/>
              <a:t>- </a:t>
            </a:r>
            <a:r>
              <a:rPr lang="zh-CN" altLang="en-US" dirty="0"/>
              <a:t>大量无标注图像：</a:t>
            </a:r>
          </a:p>
          <a:p>
            <a:r>
              <a:rPr lang="zh-CN" altLang="en-US" dirty="0"/>
              <a:t>  </a:t>
            </a:r>
            <a:r>
              <a:rPr lang="en-US" altLang="zh-CN" dirty="0"/>
              <a:t>- </a:t>
            </a:r>
            <a:r>
              <a:rPr lang="zh-CN" altLang="en-US" dirty="0"/>
              <a:t>两位老师先各自给出“骨架草稿”和“每个关节的可信度”</a:t>
            </a:r>
          </a:p>
          <a:p>
            <a:r>
              <a:rPr lang="zh-CN" altLang="en-US" dirty="0"/>
              <a:t>  </a:t>
            </a:r>
            <a:r>
              <a:rPr lang="en-US" altLang="zh-CN" dirty="0"/>
              <a:t>- </a:t>
            </a:r>
            <a:r>
              <a:rPr lang="zh-CN" altLang="en-US" dirty="0"/>
              <a:t>只保留</a:t>
            </a:r>
            <a:r>
              <a:rPr lang="zh-CN" altLang="en-US" b="1" dirty="0"/>
              <a:t>整体比较可信</a:t>
            </a:r>
            <a:r>
              <a:rPr lang="zh-CN" altLang="en-US" dirty="0"/>
              <a:t>的样本，再逐个关节挑出“可信的点”</a:t>
            </a:r>
          </a:p>
          <a:p>
            <a:r>
              <a:rPr lang="zh-CN" altLang="en-US" dirty="0"/>
              <a:t>  </a:t>
            </a:r>
            <a:r>
              <a:rPr lang="en-US" altLang="zh-CN" dirty="0"/>
              <a:t>- </a:t>
            </a:r>
            <a:r>
              <a:rPr lang="zh-CN" altLang="en-US" dirty="0"/>
              <a:t>对每个关节，用“更可信的那位老师”为主进行加权融合，得到一个“综合参考答案”</a:t>
            </a:r>
          </a:p>
          <a:p>
            <a:r>
              <a:rPr lang="en-US" altLang="zh-CN" dirty="0"/>
              <a:t>- “</a:t>
            </a:r>
            <a:r>
              <a:rPr lang="zh-CN" altLang="en-US" dirty="0"/>
              <a:t>学生”模型：</a:t>
            </a:r>
          </a:p>
          <a:p>
            <a:r>
              <a:rPr lang="zh-CN" altLang="en-US" dirty="0"/>
              <a:t>  </a:t>
            </a:r>
            <a:r>
              <a:rPr lang="en-US" altLang="zh-CN" dirty="0"/>
              <a:t>- </a:t>
            </a:r>
            <a:r>
              <a:rPr lang="zh-CN" altLang="en-US" dirty="0"/>
              <a:t>看同一张图的多种“严重扰动版本”（强增强），每一种都要尽量贴近这个综合参考答案</a:t>
            </a:r>
          </a:p>
          <a:p>
            <a:r>
              <a:rPr lang="zh-CN" altLang="en-US" dirty="0"/>
              <a:t>  </a:t>
            </a:r>
            <a:r>
              <a:rPr lang="en-US" altLang="zh-CN" dirty="0"/>
              <a:t>- </a:t>
            </a:r>
            <a:r>
              <a:rPr lang="zh-CN" altLang="en-US" dirty="0"/>
              <a:t>相当于学生在各种拍摄条件下，都要画出类似的骨架</a:t>
            </a:r>
          </a:p>
        </p:txBody>
      </p:sp>
      <p:sp>
        <p:nvSpPr>
          <p:cNvPr id="11" name="文本框 10">
            <a:extLst>
              <a:ext uri="{FF2B5EF4-FFF2-40B4-BE49-F238E27FC236}">
                <a16:creationId xmlns:a16="http://schemas.microsoft.com/office/drawing/2014/main" id="{4F38D042-DBA2-472D-56B5-D3B44D7D78BD}"/>
              </a:ext>
            </a:extLst>
          </p:cNvPr>
          <p:cNvSpPr txBox="1"/>
          <p:nvPr/>
        </p:nvSpPr>
        <p:spPr>
          <a:xfrm>
            <a:off x="969971" y="260059"/>
            <a:ext cx="4436734" cy="369332"/>
          </a:xfrm>
          <a:prstGeom prst="rect">
            <a:avLst/>
          </a:prstGeom>
          <a:noFill/>
        </p:spPr>
        <p:txBody>
          <a:bodyPr wrap="square" rtlCol="0">
            <a:spAutoFit/>
          </a:bodyPr>
          <a:lstStyle/>
          <a:p>
            <a:r>
              <a:rPr lang="zh-CN" altLang="en-US" dirty="0"/>
              <a:t>双老师带学生，在大量无标注图像上自学</a:t>
            </a:r>
          </a:p>
        </p:txBody>
      </p:sp>
      <p:pic>
        <p:nvPicPr>
          <p:cNvPr id="3" name="图片 2">
            <a:extLst>
              <a:ext uri="{FF2B5EF4-FFF2-40B4-BE49-F238E27FC236}">
                <a16:creationId xmlns:a16="http://schemas.microsoft.com/office/drawing/2014/main" id="{62031C3C-2EA4-9BC4-540B-964A21561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971" y="629391"/>
            <a:ext cx="6164688" cy="3074748"/>
          </a:xfrm>
          <a:prstGeom prst="rect">
            <a:avLst/>
          </a:prstGeom>
        </p:spPr>
      </p:pic>
    </p:spTree>
    <p:extLst>
      <p:ext uri="{BB962C8B-B14F-4D97-AF65-F5344CB8AC3E}">
        <p14:creationId xmlns:p14="http://schemas.microsoft.com/office/powerpoint/2010/main" val="219711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4BE-5DEE-A599-88EB-9757973D280B}"/>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2BFB692A-44AB-60F3-F5D9-A3408B8C1C5A}"/>
              </a:ext>
            </a:extLst>
          </p:cNvPr>
          <p:cNvSpPr txBox="1"/>
          <p:nvPr/>
        </p:nvSpPr>
        <p:spPr>
          <a:xfrm>
            <a:off x="969970" y="3632432"/>
            <a:ext cx="9902161" cy="2308324"/>
          </a:xfrm>
          <a:prstGeom prst="rect">
            <a:avLst/>
          </a:prstGeom>
          <a:noFill/>
        </p:spPr>
        <p:txBody>
          <a:bodyPr wrap="square" rtlCol="0">
            <a:spAutoFit/>
          </a:bodyPr>
          <a:lstStyle/>
          <a:p>
            <a:r>
              <a:rPr lang="en-US" altLang="zh-CN" dirty="0"/>
              <a:t>- </a:t>
            </a:r>
            <a:r>
              <a:rPr lang="zh-CN" altLang="en-US" dirty="0"/>
              <a:t>在无标注数据上，我们额外加入</a:t>
            </a:r>
            <a:r>
              <a:rPr lang="zh-CN" altLang="en-US" b="1" dirty="0"/>
              <a:t>结构先验（解剖学规则）</a:t>
            </a:r>
            <a:r>
              <a:rPr lang="zh-CN" altLang="en-US" dirty="0"/>
              <a:t>：</a:t>
            </a:r>
          </a:p>
          <a:p>
            <a:r>
              <a:rPr lang="zh-CN" altLang="en-US" dirty="0"/>
              <a:t>  </a:t>
            </a:r>
            <a:r>
              <a:rPr lang="en-US" altLang="zh-CN" dirty="0"/>
              <a:t>- </a:t>
            </a:r>
            <a:r>
              <a:rPr lang="zh-CN" altLang="en-US" b="1" dirty="0"/>
              <a:t>骨骼连续性</a:t>
            </a:r>
            <a:r>
              <a:rPr lang="zh-CN" altLang="en-US" dirty="0"/>
              <a:t>：关节之间不能“折断”“脱节”</a:t>
            </a:r>
          </a:p>
          <a:p>
            <a:r>
              <a:rPr lang="zh-CN" altLang="en-US" dirty="0"/>
              <a:t>  </a:t>
            </a:r>
            <a:r>
              <a:rPr lang="en-US" altLang="zh-CN" dirty="0"/>
              <a:t>- </a:t>
            </a:r>
            <a:r>
              <a:rPr lang="zh-CN" altLang="en-US" b="1" dirty="0"/>
              <a:t>骨长比例</a:t>
            </a:r>
            <a:r>
              <a:rPr lang="zh-CN" altLang="en-US" dirty="0"/>
              <a:t>：同一个人的各段骨骼长度比例要在正常范围内</a:t>
            </a:r>
          </a:p>
          <a:p>
            <a:r>
              <a:rPr lang="zh-CN" altLang="en-US" dirty="0"/>
              <a:t>  </a:t>
            </a:r>
            <a:r>
              <a:rPr lang="en-US" altLang="zh-CN" dirty="0"/>
              <a:t>- </a:t>
            </a:r>
            <a:r>
              <a:rPr lang="zh-CN" altLang="en-US" b="1" dirty="0"/>
              <a:t>关节角度</a:t>
            </a:r>
            <a:r>
              <a:rPr lang="zh-CN" altLang="en-US" dirty="0"/>
              <a:t>：肩、肘、膝等角度不能出现解剖学上不可能的姿态</a:t>
            </a:r>
          </a:p>
          <a:p>
            <a:r>
              <a:rPr lang="en-US" altLang="zh-CN" dirty="0"/>
              <a:t>- </a:t>
            </a:r>
            <a:r>
              <a:rPr lang="zh-CN" altLang="en-US" dirty="0"/>
              <a:t>一旦模型给出的骨架违反这些规则，就会被轻微“惩罚”，引导它回到</a:t>
            </a:r>
            <a:r>
              <a:rPr lang="zh-CN" altLang="en-US" b="1" dirty="0"/>
              <a:t>生理可行</a:t>
            </a:r>
            <a:r>
              <a:rPr lang="zh-CN" altLang="en-US" dirty="0"/>
              <a:t>的姿势范围</a:t>
            </a:r>
          </a:p>
          <a:p>
            <a:r>
              <a:rPr lang="en-US" altLang="zh-CN" dirty="0"/>
              <a:t>- </a:t>
            </a:r>
            <a:r>
              <a:rPr lang="zh-CN" altLang="en-US" dirty="0"/>
              <a:t>最终效果：</a:t>
            </a:r>
          </a:p>
          <a:p>
            <a:r>
              <a:rPr lang="zh-CN" altLang="en-US" dirty="0"/>
              <a:t>  </a:t>
            </a:r>
            <a:r>
              <a:rPr lang="en-US" altLang="zh-CN" dirty="0"/>
              <a:t>- </a:t>
            </a:r>
            <a:r>
              <a:rPr lang="zh-CN" altLang="en-US" dirty="0"/>
              <a:t>利用少量标注 </a:t>
            </a:r>
            <a:r>
              <a:rPr lang="en-US" altLang="zh-CN" dirty="0"/>
              <a:t>+ </a:t>
            </a:r>
            <a:r>
              <a:rPr lang="zh-CN" altLang="en-US" dirty="0"/>
              <a:t>大量无标注图像</a:t>
            </a:r>
          </a:p>
          <a:p>
            <a:r>
              <a:rPr lang="zh-CN" altLang="en-US" dirty="0"/>
              <a:t>  </a:t>
            </a:r>
            <a:r>
              <a:rPr lang="en-US" altLang="zh-CN" dirty="0"/>
              <a:t>- </a:t>
            </a:r>
            <a:r>
              <a:rPr lang="zh-CN" altLang="en-US" dirty="0"/>
              <a:t>在两位老师和解剖学规则的约束下，得到一个</a:t>
            </a:r>
            <a:r>
              <a:rPr lang="zh-CN" altLang="en-US" b="1" dirty="0"/>
              <a:t>稳定、可信、符合人体结构</a:t>
            </a:r>
            <a:r>
              <a:rPr lang="zh-CN" altLang="en-US" dirty="0"/>
              <a:t>的姿态估计模型</a:t>
            </a:r>
          </a:p>
        </p:txBody>
      </p:sp>
      <p:sp>
        <p:nvSpPr>
          <p:cNvPr id="11" name="文本框 10">
            <a:extLst>
              <a:ext uri="{FF2B5EF4-FFF2-40B4-BE49-F238E27FC236}">
                <a16:creationId xmlns:a16="http://schemas.microsoft.com/office/drawing/2014/main" id="{9B4EE600-341F-642D-A6FA-522A3C08CB92}"/>
              </a:ext>
            </a:extLst>
          </p:cNvPr>
          <p:cNvSpPr txBox="1"/>
          <p:nvPr/>
        </p:nvSpPr>
        <p:spPr>
          <a:xfrm>
            <a:off x="969970" y="260059"/>
            <a:ext cx="5531497" cy="369332"/>
          </a:xfrm>
          <a:prstGeom prst="rect">
            <a:avLst/>
          </a:prstGeom>
          <a:noFill/>
        </p:spPr>
        <p:txBody>
          <a:bodyPr wrap="square" rtlCol="0">
            <a:spAutoFit/>
          </a:bodyPr>
          <a:lstStyle/>
          <a:p>
            <a:r>
              <a:rPr lang="zh-CN" altLang="en-US" dirty="0"/>
              <a:t>用解剖学规则做“安全护栏”，防止奇怪姿势</a:t>
            </a:r>
          </a:p>
        </p:txBody>
      </p:sp>
      <p:pic>
        <p:nvPicPr>
          <p:cNvPr id="3" name="图片 2">
            <a:extLst>
              <a:ext uri="{FF2B5EF4-FFF2-40B4-BE49-F238E27FC236}">
                <a16:creationId xmlns:a16="http://schemas.microsoft.com/office/drawing/2014/main" id="{42763043-64F3-1D78-1CD8-98A39E2E5C5D}"/>
              </a:ext>
            </a:extLst>
          </p:cNvPr>
          <p:cNvPicPr>
            <a:picLocks noChangeAspect="1"/>
          </p:cNvPicPr>
          <p:nvPr/>
        </p:nvPicPr>
        <p:blipFill>
          <a:blip r:embed="rId3"/>
          <a:stretch>
            <a:fillRect/>
          </a:stretch>
        </p:blipFill>
        <p:spPr>
          <a:xfrm>
            <a:off x="969970" y="5940756"/>
            <a:ext cx="6993228" cy="703982"/>
          </a:xfrm>
          <a:prstGeom prst="rect">
            <a:avLst/>
          </a:prstGeom>
        </p:spPr>
      </p:pic>
      <p:pic>
        <p:nvPicPr>
          <p:cNvPr id="6" name="图片 5">
            <a:extLst>
              <a:ext uri="{FF2B5EF4-FFF2-40B4-BE49-F238E27FC236}">
                <a16:creationId xmlns:a16="http://schemas.microsoft.com/office/drawing/2014/main" id="{D9B18642-B7A3-CEA3-7F42-0398039AEF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970" y="844086"/>
            <a:ext cx="5361770" cy="2573650"/>
          </a:xfrm>
          <a:prstGeom prst="rect">
            <a:avLst/>
          </a:prstGeom>
        </p:spPr>
      </p:pic>
    </p:spTree>
    <p:extLst>
      <p:ext uri="{BB962C8B-B14F-4D97-AF65-F5344CB8AC3E}">
        <p14:creationId xmlns:p14="http://schemas.microsoft.com/office/powerpoint/2010/main" val="1243275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3801</TotalTime>
  <Words>1228</Words>
  <Application>Microsoft Office PowerPoint</Application>
  <PresentationFormat>宽屏</PresentationFormat>
  <Paragraphs>54</Paragraphs>
  <Slides>4</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等线 Light</vt:lpstr>
      <vt:lpstr>Arial</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Drift Handsome</dc:creator>
  <cp:lastModifiedBy>Drift Handsome</cp:lastModifiedBy>
  <cp:revision>7</cp:revision>
  <dcterms:created xsi:type="dcterms:W3CDTF">2025-11-29T12:23:48Z</dcterms:created>
  <dcterms:modified xsi:type="dcterms:W3CDTF">2025-12-02T03:45:31Z</dcterms:modified>
</cp:coreProperties>
</file>